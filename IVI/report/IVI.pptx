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4" autoAdjust="0"/>
    <p:restoredTop sz="70578" autoAdjust="0"/>
  </p:normalViewPr>
  <p:slideViewPr>
    <p:cSldViewPr snapToGrid="0" snapToObjects="1">
      <p:cViewPr varScale="1">
        <p:scale>
          <a:sx n="44" d="100"/>
          <a:sy n="44" d="100"/>
        </p:scale>
        <p:origin x="1485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001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4173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FAFC"/>
                </a:solidFill>
              </a:rPr>
              <a:t>Coach Attack Explorer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80160" y="2057400"/>
            <a:ext cx="9646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7C7DD"/>
                </a:solidFill>
              </a:rPr>
              <a:t>Goal build-up replay and tournament style comparison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03320" y="2880360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38BDF8">
              <a:alpha val="92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76472" y="2948940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</a:rPr>
              <a:t>Interactive Visualisation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806440" y="2880360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79592" y="294894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</a:rPr>
              <a:t>StatsBomb Open Data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47548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7C7DD"/>
                </a:solidFill>
              </a:rPr>
              <a:t>Emircan Bagcivan · FS26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6528816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EA3"/>
                </a:solidFill>
              </a:rPr>
              <a:t>IVI Final Pitch · Coach Attack Explorer ·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and goal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257800" cy="4069080"/>
          </a:xfrm>
          <a:prstGeom prst="roundRect">
            <a:avLst>
              <a:gd name="adj" fmla="val 2697"/>
            </a:avLst>
          </a:prstGeom>
          <a:solidFill>
            <a:srgbClr val="111827"/>
          </a:solidFill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99032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Dataset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01368"/>
            <a:ext cx="470916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80" dirty="0">
                <a:solidFill>
                  <a:srgbClr val="F8FAFC"/>
                </a:solidFill>
              </a:rPr>
              <a:t>StatsBomb open event data from major football tournaments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Raw actions include passes, carries, shots, locations and timestamps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Data was transformed into local CSV files for stable dashboard use
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446520" y="1234440"/>
            <a:ext cx="5257800" cy="4069080"/>
          </a:xfrm>
          <a:prstGeom prst="roundRect">
            <a:avLst>
              <a:gd name="adj" fmla="val 2697"/>
            </a:avLst>
          </a:prstGeom>
          <a:solidFill>
            <a:srgbClr val="111827"/>
          </a:solidFill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47688" y="1399032"/>
            <a:ext cx="4855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Project goal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1801368"/>
            <a:ext cx="470916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80" dirty="0">
                <a:solidFill>
                  <a:srgbClr val="F8FAFC"/>
                </a:solidFill>
              </a:rPr>
              <a:t>Inspect how goals were created before the final shot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Replay one concrete goal build-up on a pitch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Compare a selected team with the rest of the tournament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Support coaching discussion
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2057400" y="5715000"/>
            <a:ext cx="8092440" cy="438912"/>
          </a:xfrm>
          <a:prstGeom prst="roundRect">
            <a:avLst>
              <a:gd name="adj" fmla="val 16667"/>
            </a:avLst>
          </a:prstGeom>
          <a:solidFill>
            <a:srgbClr val="172235"/>
          </a:solidFill>
          <a:ln w="1270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5833872"/>
            <a:ext cx="7726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8FAFC"/>
                </a:solidFill>
              </a:rPr>
              <a:t>Research question: How do teams create goals, and how does their attacking style compare within the tournament?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411480" y="6528816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EA3"/>
                </a:solidFill>
              </a:rPr>
              <a:t>IVI Final Pitch · Coach Attack Explorer ·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replay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658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7DD"/>
                </a:solidFill>
              </a:rPr>
              <a:t>The user moves from filters to one concrete attack sequence</a:t>
            </a:r>
            <a:endParaRPr lang="en-US" sz="1150" dirty="0"/>
          </a:p>
        </p:txBody>
      </p:sp>
      <p:pic>
        <p:nvPicPr>
          <p:cNvPr id="5" name="Image 0" descr="/mnt/data/image(15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736092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097280"/>
            <a:ext cx="7360920" cy="461772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38160" y="1234440"/>
            <a:ext cx="3566160" cy="4160520"/>
          </a:xfrm>
          <a:prstGeom prst="roundRect">
            <a:avLst>
              <a:gd name="adj" fmla="val 3077"/>
            </a:avLst>
          </a:prstGeom>
          <a:solidFill>
            <a:srgbClr val="111827"/>
          </a:solidFill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39328" y="139903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What the user can do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58200" y="1801368"/>
            <a:ext cx="301752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80" dirty="0">
                <a:solidFill>
                  <a:srgbClr val="F8FAFC"/>
                </a:solidFill>
              </a:rPr>
              <a:t>Choose tournament, team and one goal example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Replay the attack with Play, Next and Jump to event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Read event details: player, action, scorer, passes and duration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Use the pitch zones to understand progression into the final third
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822960" y="580644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i="1" dirty="0">
                <a:solidFill>
                  <a:srgbClr val="B7C7DD"/>
                </a:solidFill>
              </a:rPr>
              <a:t>Attack Replay view: selected Brazil goal build-up with step controls and event details.</a:t>
            </a: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411480" y="6528816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EA3"/>
                </a:solidFill>
              </a:rPr>
              <a:t>IVI Final Pitch · Coach Attack Explorer ·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658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7DD"/>
                </a:solidFill>
              </a:rPr>
              <a:t>The overview connects goal build-up type with passes and duration</a:t>
            </a:r>
            <a:endParaRPr lang="en-US" sz="1150" dirty="0"/>
          </a:p>
        </p:txBody>
      </p:sp>
      <p:pic>
        <p:nvPicPr>
          <p:cNvPr id="5" name="Image 0" descr="/mnt/data/image(15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51560"/>
            <a:ext cx="649224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51560"/>
            <a:ext cx="649224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334155">
                <a:alpha val="6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78040" y="1325880"/>
            <a:ext cx="4526280" cy="3977640"/>
          </a:xfrm>
          <a:prstGeom prst="roundRect">
            <a:avLst>
              <a:gd name="adj" fmla="val 2759"/>
            </a:avLst>
          </a:prstGeom>
          <a:solidFill>
            <a:srgbClr val="111827"/>
          </a:solidFill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79208" y="1490472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Insight from the overview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0" y="1892808"/>
            <a:ext cx="397764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80" dirty="0">
                <a:solidFill>
                  <a:srgbClr val="F8FAFC"/>
                </a:solidFill>
              </a:rPr>
              <a:t>KPI cards give a fast summary of the selected tournament or team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Build-up type chart separates quick, medium and long goal attacks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Scatterplot shows how completed passes relate to attack duration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Selected goal is highlighted so the user can compare example and pattern
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731520" y="594360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i="1" dirty="0">
                <a:solidFill>
                  <a:srgbClr val="B7C7DD"/>
                </a:solidFill>
              </a:rPr>
              <a:t>Tournament goal patterns after selecting Brazil: KPIs, build-up type distribution and passes vs duration.</a:t>
            </a:r>
            <a:endParaRPr lang="en-US" sz="860" dirty="0"/>
          </a:p>
        </p:txBody>
      </p:sp>
      <p:sp>
        <p:nvSpPr>
          <p:cNvPr id="11" name="Text 8"/>
          <p:cNvSpPr/>
          <p:nvPr/>
        </p:nvSpPr>
        <p:spPr>
          <a:xfrm>
            <a:off x="411480" y="6528816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EA3"/>
                </a:solidFill>
              </a:rPr>
              <a:t>IVI Final Pitch · Coach Attack Explorer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choices and feedback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658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C7DD"/>
                </a:solidFill>
              </a:rPr>
              <a:t>The final design choices were guided by IVI principles and user feedback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111827"/>
          </a:solidFill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53312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Design choices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55648"/>
            <a:ext cx="480060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80" dirty="0">
                <a:solidFill>
                  <a:srgbClr val="F8FAFC"/>
                </a:solidFill>
              </a:rPr>
              <a:t>Overview first: tournament KPIs and charts before detailed comparison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Filtering: tournament, team, build-up type and goal example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Details on demand: step-by-step replay and event information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Linked views: filters update replay, charts and team comparison
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355080" y="118872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111827"/>
          </a:solidFill>
          <a:ln w="1270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6248" y="1353312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Evaluation feedback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1755648"/>
            <a:ext cx="480060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180" dirty="0">
                <a:solidFill>
                  <a:srgbClr val="F8FAFC"/>
                </a:solidFill>
              </a:rPr>
              <a:t>3 football-interested participants tested the workflow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Replay was strongest because it uses a familiar football pitch
</a:t>
            </a:r>
            <a:endParaRPr lang="en-US" sz="1180" dirty="0"/>
          </a:p>
          <a:p>
            <a:r>
              <a:rPr lang="en-US" sz="1180" dirty="0">
                <a:solidFill>
                  <a:srgbClr val="F8FAFC"/>
                </a:solidFill>
              </a:rPr>
              <a:t>Directness Rank, scatterplot and build-up categories need short explanations
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411480" y="6528816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EA3"/>
                </a:solidFill>
              </a:rPr>
              <a:t>IVI Final Pitch · Coach Attack Explorer · 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</Words>
  <Application>Microsoft Office PowerPoint</Application>
  <PresentationFormat>Breitbild</PresentationFormat>
  <Paragraphs>53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FHNW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 Attack Explorer</dc:title>
  <dc:subject>IVI Final Pitch - Coach Attack Explorer</dc:subject>
  <dc:creator>Emircan Bagcivan</dc:creator>
  <cp:lastModifiedBy>BK KÄLTE BAGCIVAN</cp:lastModifiedBy>
  <cp:revision>6</cp:revision>
  <dcterms:created xsi:type="dcterms:W3CDTF">2026-05-28T22:50:41Z</dcterms:created>
  <dcterms:modified xsi:type="dcterms:W3CDTF">2026-06-04T18:28:15Z</dcterms:modified>
</cp:coreProperties>
</file>